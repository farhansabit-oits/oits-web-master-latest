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jp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31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67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107.png"/><Relationship Id="rId1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28.png"/><Relationship Id="rId12" Type="http://schemas.openxmlformats.org/officeDocument/2006/relationships/image" Target="../media/image129.png"/><Relationship Id="rId13" Type="http://schemas.openxmlformats.org/officeDocument/2006/relationships/image" Target="../media/image130.png"/><Relationship Id="rId14" Type="http://schemas.openxmlformats.org/officeDocument/2006/relationships/image" Target="../media/image131.png"/><Relationship Id="rId15" Type="http://schemas.openxmlformats.org/officeDocument/2006/relationships/image" Target="../media/image132.png"/><Relationship Id="rId16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20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29.png"/><Relationship Id="rId10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028" y="-952499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476238" y="4952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E0F2F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952476" y="600075"/>
            <a:ext cx="228594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571500"/>
            <a:ext cx="17239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AI INNOVATIONS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476" y="2095499"/>
            <a:ext cx="76198" cy="266700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466" y="2095499"/>
            <a:ext cx="6410164" cy="1428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1560"/>
              </a:spcAft>
            </a:pPr>
            <a:r>
              <a:rPr sz="4066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AI-Powered</a:t>
            </a:r>
            <a:r>
              <a:rPr sz="1104"/>
              <a:t>
</a:t>
            </a:r>
            <a:r>
              <a:rPr sz="4066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Solutions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466" y="3752849"/>
            <a:ext cx="641016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3120"/>
              </a:spcAft>
            </a:pPr>
            <a:r>
              <a:rPr sz="1674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Enterprise Financial Platform &amp; Healthcare Solutions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333466" y="4762500"/>
            <a:ext cx="133346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43011" y="4724399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Board-Level Technical Report |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9314" y="0"/>
            <a:ext cx="476238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failed to load:</a:t>
            </a:r>
          </a:p>
          <a:p>
            <a:r>
              <a:t>file:///tmp/html2pptx_svg/svg_9f8d4f6c-329e-47b8-b...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19409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-9524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485" y="2733674"/>
            <a:ext cx="30479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2A5F5"/>
                </a:solidFill>
                <a:latin typeface="Inter"/>
                <a:rFonts ascii="Inter" hAnsi="Inter" eastAsia="Inter" cs="Inter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85" y="3171825"/>
            <a:ext cx="3047923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485" y="4067174"/>
            <a:ext cx="571485" cy="57150"/>
          </a:xfrm>
          <a:prstGeom prst="roundRect">
            <a:avLst>
              <a:gd name="adj" fmla="val 10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571485" y="6286500"/>
            <a:ext cx="17144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179" y="6276975"/>
            <a:ext cx="123821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8381790" y="3047999"/>
            <a:ext cx="3809904" cy="3809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1390" y="323849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76" y="342900"/>
            <a:ext cx="23526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76" y="609600"/>
            <a:ext cx="235261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Key highlights and strategic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542" y="323849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028" y="342900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Conversational AI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028" y="609600"/>
            <a:ext cx="26478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Multi-modal voice/chat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390" y="1143000"/>
            <a:ext cx="3238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5C6BC0"/>
                </a:solidFill>
                <a:latin typeface="Poppins"/>
                <a:rFonts ascii="Poppins" hAnsi="Poppins" eastAsia="Poppins" cs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876" y="1162050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AI Solutions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876" y="1428750"/>
            <a:ext cx="203829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Portfolio visualization &amp; verticals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542" y="1143000"/>
            <a:ext cx="3143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7E57C2"/>
                </a:solidFill>
                <a:latin typeface="Poppins"/>
                <a:rFonts ascii="Poppins" hAnsi="Poppins" eastAsia="Poppins" cs="Poppins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028" y="1162050"/>
            <a:ext cx="23430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Banking Document 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028" y="1428750"/>
            <a:ext cx="234309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Automated form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1390" y="1962149"/>
            <a:ext cx="3333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AB47BC"/>
                </a:solidFill>
                <a:latin typeface="Poppins"/>
                <a:rFonts ascii="Poppins" hAnsi="Poppins" eastAsia="Poppins" cs="Poppi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2876" y="1981199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Healthcare AI 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2876" y="2247899"/>
            <a:ext cx="22859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Medical assistant &amp; digital doctor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542" y="1962149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028" y="1981199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Fintech Digital Wallet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028" y="2247899"/>
            <a:ext cx="208592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Payments &amp; financial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390" y="2781300"/>
            <a:ext cx="3524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2876" y="2800350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DiagnosticCentre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2876" y="3067050"/>
            <a:ext cx="196210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Digital transformation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542" y="2781300"/>
            <a:ext cx="3333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5C6BC0"/>
                </a:solidFill>
                <a:latin typeface="Poppins"/>
                <a:rFonts ascii="Poppins" hAnsi="Poppins" eastAsia="Poppins" cs="Poppin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028" y="2800350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Technical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028" y="3067050"/>
            <a:ext cx="223831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Layered system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1390" y="3600450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7E57C2"/>
                </a:solidFill>
                <a:latin typeface="Poppins"/>
                <a:rFonts ascii="Poppins" hAnsi="Poppins" eastAsia="Poppins" cs="Poppin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2876" y="3619499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AR/VR Medical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2876" y="3886200"/>
            <a:ext cx="233356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Immersive education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542" y="3600450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AB47BC"/>
                </a:solidFill>
                <a:latin typeface="Poppins"/>
                <a:rFonts ascii="Poppins" hAnsi="Poppins" eastAsia="Poppins" cs="Poppin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028" y="3619499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Performance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8028" y="3886200"/>
            <a:ext cx="204782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Business impact &amp; KPIs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1390" y="4419600"/>
            <a:ext cx="2000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2876" y="4438649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Delivery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2876" y="4705350"/>
            <a:ext cx="167635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Solution maturity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542" y="4419600"/>
            <a:ext cx="2571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8028" y="4438649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Comparative Insights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8028" y="4705350"/>
            <a:ext cx="213354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Cross-project synergies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1390" y="5238749"/>
            <a:ext cx="2571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2876" y="525780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Platform Maturity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52876" y="5524499"/>
            <a:ext cx="17430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Current status &amp; roadmap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6542" y="5238749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8028" y="52578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Pharmacist Chatbot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8028" y="5524499"/>
            <a:ext cx="199067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Medicine intelligence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1390" y="6057900"/>
            <a:ext cx="2762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2876" y="607695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Conclusion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52876" y="6343650"/>
            <a:ext cx="175255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Strategic value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86742" y="-9524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1980" y="1438274"/>
            <a:ext cx="57148" cy="952499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2619374"/>
            <a:ext cx="36384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981325"/>
            <a:ext cx="3638459" cy="1009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Portfolio</a:t>
            </a:r>
            <a:r>
              <a:rPr sz="1104"/>
              <a:t>
</a:t>
            </a: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4276725"/>
            <a:ext cx="3638459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95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Updated AI-powered solutions portfolio featuring </a:t>
            </a:r>
            <a:r>
              <a:rPr sz="89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7 major platforms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across healthcare, banking, retail, and education sectors with quantifiable business impact and proven delivery success.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5381624"/>
            <a:ext cx="571485" cy="38100"/>
          </a:xfrm>
          <a:prstGeom prst="roundRect">
            <a:avLst>
              <a:gd name="adj" fmla="val 10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6286500"/>
            <a:ext cx="17144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8674" y="6276975"/>
            <a:ext cx="123821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8163" y="1143000"/>
            <a:ext cx="2876478" cy="1924049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5686282" y="1476375"/>
            <a:ext cx="266693" cy="2666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6282" y="1933574"/>
            <a:ext cx="240023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6282" y="2505074"/>
            <a:ext cx="2400239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Screening Time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3236" y="1143000"/>
            <a:ext cx="2876478" cy="1924049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800879" y="1476375"/>
            <a:ext cx="333366" cy="2666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00879" y="1933574"/>
            <a:ext cx="240023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0879" y="2505074"/>
            <a:ext cx="2400239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Early Cancer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Detection Increase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8163" y="3305174"/>
            <a:ext cx="2876478" cy="1924049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3302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5686282" y="3638550"/>
            <a:ext cx="266693" cy="2666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86282" y="4095749"/>
            <a:ext cx="240023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6282" y="4667249"/>
            <a:ext cx="2400239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Call Volume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Deflection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53236" y="3305174"/>
            <a:ext cx="2876478" cy="1924049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3302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8800879" y="3638550"/>
            <a:ext cx="238119" cy="2666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00879" y="4095749"/>
            <a:ext cx="240023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70-80%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0879" y="4667249"/>
            <a:ext cx="2400239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Bank Form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Processing Speed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8163" y="5514975"/>
            <a:ext cx="5981550" cy="581025"/>
          </a:xfrm>
          <a:prstGeom prst="roundRect">
            <a:avLst>
              <a:gd name="adj" fmla="val 32786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223691" y="5739447"/>
            <a:ext cx="5810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76758" y="5705475"/>
            <a:ext cx="55624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Portfolio Status: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Live &amp; Delivered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• </a:t>
            </a:r>
            <a:r>
              <a:rPr sz="837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MVP Complete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• </a:t>
            </a:r>
            <a:r>
              <a:rPr sz="83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Demo Available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1980" y="476249"/>
            <a:ext cx="57148" cy="761999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7248" y="476249"/>
            <a:ext cx="44385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AI SOLUTIONS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7248" y="809625"/>
            <a:ext cx="4438539" cy="5048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Portfolio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9924801" y="933449"/>
            <a:ext cx="171445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91495" y="923924"/>
            <a:ext cx="123821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8123" y="2847974"/>
            <a:ext cx="2095447" cy="20954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2A5F5"/>
              </a:gs>
              <a:gs pos="100000">
                <a:srgbClr val="29B6F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5810104" y="3390899"/>
            <a:ext cx="571485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361" y="3943350"/>
            <a:ext cx="115249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AI Solutions</a:t>
            </a:r>
            <a:r>
              <a:rPr sz="1104"/>
              <a:t>
</a:t>
            </a:r>
            <a:r>
              <a:rPr sz="1196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3961" y="1981199"/>
            <a:ext cx="3295567" cy="904874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41275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09704" y="2190749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1895427" y="2276474"/>
            <a:ext cx="304792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8814" y="2190749"/>
            <a:ext cx="21335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814" y="2486025"/>
            <a:ext cx="21335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Medical AI Assistant &amp; Digital Doctor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0304" y="1981199"/>
            <a:ext cx="2857428" cy="904874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4127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6047" y="2190749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181770" y="2276474"/>
            <a:ext cx="304792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15157" y="2190749"/>
            <a:ext cx="169540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Banking &amp;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5157" y="2486025"/>
            <a:ext cx="16954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OCR Platform &amp; Digital Wallet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3961" y="4629150"/>
            <a:ext cx="3028874" cy="904874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4127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09704" y="4838699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1876378" y="4924424"/>
            <a:ext cx="342891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428814" y="4838699"/>
            <a:ext cx="186685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Retail &amp; E-commerce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8814" y="5124449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Conversational AI &amp;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7433" y="4629150"/>
            <a:ext cx="3000299" cy="904874"/>
          </a:xfrm>
          <a:prstGeom prst="roundRect">
            <a:avLst>
              <a:gd name="adj" fmla="val 33684"/>
            </a:avLst>
          </a:prstGeom>
          <a:solidFill>
            <a:srgbClr val="FFFFFF"/>
          </a:solidFill>
          <a:ln w="4127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3176" y="4838699"/>
            <a:ext cx="476238" cy="476249"/>
          </a:xfrm>
          <a:prstGeom prst="roundRect">
            <a:avLst>
              <a:gd name="adj" fmla="val 4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8000799" y="4924424"/>
            <a:ext cx="38099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72285" y="4838699"/>
            <a:ext cx="183827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Education &amp;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285" y="5124449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AR/VR Medical Learning Suite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1115" y="4267199"/>
            <a:ext cx="19049" cy="1333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8103" y="4267199"/>
            <a:ext cx="19049" cy="13335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1314450"/>
            <a:ext cx="57148" cy="761999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1314450"/>
            <a:ext cx="39527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HEALTHCARE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647825"/>
            <a:ext cx="3952776" cy="1323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Medical AI Assistant</a:t>
            </a:r>
            <a:r>
              <a:rPr sz="1104"/>
              <a:t>
</a:t>
            </a:r>
            <a:r>
              <a:rPr sz="2511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&amp; Digital Doctor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3267075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857228" y="3362324"/>
            <a:ext cx="152396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7743" y="3248024"/>
            <a:ext cx="372418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Medical Image Reader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43" y="3524250"/>
            <a:ext cx="372418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CNN + GPT-4V for CT/MRI/X-ray analysis with risk stratification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8862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876278" y="3981449"/>
            <a:ext cx="114297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7743" y="3867149"/>
            <a:ext cx="36384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Prescription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43" y="4143375"/>
            <a:ext cx="363845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Vision transformer for Bangla+English handwriting recognition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4505325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47703" y="4600575"/>
            <a:ext cx="171445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7743" y="4486275"/>
            <a:ext cx="358131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Symptom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743" y="4752974"/>
            <a:ext cx="358131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Medical triage, differential diagnosis &amp; pre-screening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5114925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66753" y="5210174"/>
            <a:ext cx="133346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47743" y="5095874"/>
            <a:ext cx="292410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Digital Doctor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43" y="5372100"/>
            <a:ext cx="292410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24/7 GP-level triage with doctor-in-loop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96247" y="-571500"/>
            <a:ext cx="2666933" cy="2667000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7728" y="1466849"/>
            <a:ext cx="5962500" cy="39242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67253" y="5600700"/>
            <a:ext cx="6038699" cy="885825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5372" y="5791200"/>
            <a:ext cx="21335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913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5372" y="6134100"/>
            <a:ext cx="213354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Radiologist Workload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661" y="5791200"/>
            <a:ext cx="9620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913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95.6%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4661" y="6134100"/>
            <a:ext cx="96200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OCR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2880" y="5791200"/>
            <a:ext cx="19049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913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2880" y="6134100"/>
            <a:ext cx="190495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Early Detection Improvement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571500"/>
            <a:ext cx="57148" cy="54292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1400175"/>
            <a:ext cx="34860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HEALTHCARE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1781174"/>
            <a:ext cx="3486062" cy="10858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1950"/>
              </a:spcAft>
            </a:pPr>
            <a:r>
              <a:rPr sz="3109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Pain Points</a:t>
            </a:r>
            <a:r>
              <a:rPr sz="1104"/>
              <a:t>
</a:t>
            </a:r>
            <a:r>
              <a:rPr sz="3109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3152775"/>
            <a:ext cx="34860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Challenges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3619499"/>
            <a:ext cx="19049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3600450"/>
            <a:ext cx="318127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EF5350"/>
                </a:solidFill>
                <a:latin typeface="Poppins"/>
                <a:rFonts ascii="Poppins" hAnsi="Poppins" eastAsia="Poppins" cs="Poppins"/>
              </a:rPr>
              <a:t>Diagnostic Bottlenecks: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Radiologist workload </a:t>
            </a:r>
            <a:r>
              <a:rPr sz="837" b="1">
                <a:solidFill>
                  <a:srgbClr val="EF5350"/>
                </a:solidFill>
                <a:latin typeface="Poppins"/>
                <a:rFonts ascii="Poppins" hAnsi="Poppins" eastAsia="Poppins" cs="Poppins"/>
              </a:rPr>
              <a:t>↑30-50%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, 3-5% errors, 4-6 week delays in rural areas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4391025"/>
            <a:ext cx="190495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773" y="4371975"/>
            <a:ext cx="3181270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EF5350"/>
                </a:solidFill>
                <a:latin typeface="Poppins"/>
                <a:rFonts ascii="Poppins" hAnsi="Poppins" eastAsia="Poppins" cs="Poppins"/>
              </a:rPr>
              <a:t>Prescription Errors: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Illegible handwriting causing medication mistakes &amp; adverse drug interactions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5162550"/>
            <a:ext cx="190495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773" y="5143500"/>
            <a:ext cx="318127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EF5350"/>
                </a:solidFill>
                <a:latin typeface="Poppins"/>
                <a:rFonts ascii="Poppins" hAnsi="Poppins" eastAsia="Poppins" cs="Poppins"/>
              </a:rPr>
              <a:t>Triage Inefficiency: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EF5350"/>
                </a:solidFill>
                <a:latin typeface="Poppins"/>
                <a:rFonts ascii="Poppins" hAnsi="Poppins" eastAsia="Poppins" cs="Poppins"/>
              </a:rPr>
              <a:t>40%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of GP time on non-expert intervention cases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5734050"/>
            <a:ext cx="190495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773" y="5715000"/>
            <a:ext cx="318127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EF5350"/>
                </a:solidFill>
                <a:latin typeface="Poppins"/>
                <a:rFonts ascii="Poppins" hAnsi="Poppins" eastAsia="Poppins" cs="Poppins"/>
              </a:rPr>
              <a:t>Limited Access: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No 24/7 medical guidance, patients travel or wait for appointments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86742" y="-9524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519" y="1533525"/>
            <a:ext cx="63244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Real-World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0519" y="2171700"/>
            <a:ext cx="1990675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6086322" y="2428875"/>
            <a:ext cx="228594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57728" y="2771775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2956" y="3152775"/>
            <a:ext cx="895327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Screening Time</a:t>
            </a:r>
            <a:r>
              <a:rPr sz="1104"/>
              <a:t>
</a:t>
            </a: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2165" y="2171700"/>
            <a:ext cx="1990675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248443" y="2428875"/>
            <a:ext cx="228594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10324" y="2771775"/>
            <a:ext cx="70483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799" y="3152775"/>
            <a:ext cx="733406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Early Cancer</a:t>
            </a:r>
            <a:r>
              <a:rPr sz="1104"/>
              <a:t>
</a:t>
            </a: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Detection 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34286" y="2171700"/>
            <a:ext cx="1990675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10429614" y="2428875"/>
            <a:ext cx="200019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91495" y="2771775"/>
            <a:ext cx="67625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0544" y="3152775"/>
            <a:ext cx="647683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Radiologist</a:t>
            </a:r>
            <a:r>
              <a:rPr sz="1104"/>
              <a:t>
</a:t>
            </a: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Workload 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00519" y="3829050"/>
            <a:ext cx="1990675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6114897" y="4095749"/>
            <a:ext cx="171445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724381" y="4438649"/>
            <a:ext cx="9620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95.6%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5807" y="4819650"/>
            <a:ext cx="1009624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OCR Accuracy</a:t>
            </a:r>
            <a:r>
              <a:rPr sz="1104"/>
              <a:t>
</a:t>
            </a: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(Bangla+English)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2165" y="3829050"/>
            <a:ext cx="1990675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8267493" y="4095749"/>
            <a:ext cx="200019" cy="228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905552" y="443864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24hrs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4601" y="4819650"/>
            <a:ext cx="885802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Same-Day Risk</a:t>
            </a:r>
            <a:r>
              <a:rPr sz="1104"/>
              <a:t>
</a:t>
            </a: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Assessment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34286" y="3829050"/>
            <a:ext cx="1990675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0410564" y="4095749"/>
            <a:ext cx="228594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191495" y="4438649"/>
            <a:ext cx="6667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24/7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4346" y="4819650"/>
            <a:ext cx="781030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Digital Doctor</a:t>
            </a:r>
            <a:r>
              <a:rPr sz="1104"/>
              <a:t>
</a:t>
            </a:r>
            <a:r>
              <a:rPr sz="71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Support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10496287" y="6410324"/>
            <a:ext cx="152396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724881" y="6400800"/>
            <a:ext cx="108582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AI INNOVATIONS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1619250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1619250"/>
            <a:ext cx="401944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DIGITAL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924049"/>
            <a:ext cx="401944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DiagnosticCentre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69557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876278" y="2800350"/>
            <a:ext cx="152396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367" y="2676524"/>
            <a:ext cx="50290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Online Appointment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367" y="2971800"/>
            <a:ext cx="5029074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Real-time slot availability, WhatsApp/SMS confirmations, bookings under 3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5147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876278" y="3619499"/>
            <a:ext cx="152396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5367" y="3495675"/>
            <a:ext cx="449568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Report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367" y="3790949"/>
            <a:ext cx="44956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QR-code enabled upload/download, LIS integration, paperless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414337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47703" y="4248150"/>
            <a:ext cx="219069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367" y="4124324"/>
            <a:ext cx="432424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AI Chatbot (MedBot)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367" y="4419600"/>
            <a:ext cx="43242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Symptom checker, FAQ handling, intelligent triage, escalation to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7815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47703" y="4886325"/>
            <a:ext cx="219069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95367" y="4762500"/>
            <a:ext cx="41337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Admin Panel with HITL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367" y="5057775"/>
            <a:ext cx="41337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Doctor scheduling, patient oversight, AI output approval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432" y="0"/>
            <a:ext cx="548626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86742" y="-9524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14997" y="1952624"/>
            <a:ext cx="4667133" cy="2952750"/>
          </a:xfrm>
          <a:prstGeom prst="roundRect">
            <a:avLst>
              <a:gd name="adj" fmla="val 10322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7448363" y="2305049"/>
            <a:ext cx="266693" cy="2666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29354" y="2286000"/>
            <a:ext cx="207639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Impact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363" y="2924175"/>
            <a:ext cx="162873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Staff Workload Reduction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82050" y="2847974"/>
            <a:ext cx="32384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43991" y="2962274"/>
            <a:ext cx="1047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363" y="3629025"/>
            <a:ext cx="130489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Portal Adoption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8703" y="3552825"/>
            <a:ext cx="44766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&gt;50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43991" y="3667124"/>
            <a:ext cx="1047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8363" y="4333875"/>
            <a:ext cx="155253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Booking Time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77278" y="4257675"/>
            <a:ext cx="2762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&lt;3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2070" y="4371975"/>
            <a:ext cx="2571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min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523874"/>
            <a:ext cx="57148" cy="0"/>
          </a:xfrm>
          <a:prstGeom prst="roundRect">
            <a:avLst>
              <a:gd name="adj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809625"/>
            <a:ext cx="34860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DIAGNOSTIC CENTRE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1143000"/>
            <a:ext cx="3486062" cy="1009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2275"/>
              </a:spcAft>
            </a:pP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Pain Points</a:t>
            </a:r>
            <a:r>
              <a:rPr sz="1104"/>
              <a:t>
</a:t>
            </a: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476499"/>
            <a:ext cx="348606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Challenges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809604" y="2952750"/>
            <a:ext cx="228594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45" y="2924175"/>
            <a:ext cx="3076498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Manual Appointment Booking</a:t>
            </a:r>
            <a:r>
              <a:rPr sz="1104"/>
              <a:t>
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No 24/7 self-service, phone-based only, long wait times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809604" y="3809999"/>
            <a:ext cx="228594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1545" y="3781424"/>
            <a:ext cx="3076498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Paper-Based Reports</a:t>
            </a:r>
            <a:r>
              <a:rPr sz="1104"/>
              <a:t>
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No digital access, patients cannot retrieve records online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09604" y="4657725"/>
            <a:ext cx="228594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1545" y="4629150"/>
            <a:ext cx="3076498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No ERP Integration</a:t>
            </a:r>
            <a:r>
              <a:rPr sz="1104"/>
              <a:t>
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System duplication, manual data entry, inefficiency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09604" y="5514975"/>
            <a:ext cx="228594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1545" y="5486400"/>
            <a:ext cx="3076498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Absence of AI Triage</a:t>
            </a:r>
            <a:r>
              <a:rPr sz="1104"/>
              <a:t>
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Patients lack initial guidance, no pre-visit support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86742" y="-1143000"/>
            <a:ext cx="3047923" cy="3047999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5767" y="761999"/>
            <a:ext cx="61339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Real-World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95767" y="1209674"/>
            <a:ext cx="2971725" cy="1838324"/>
          </a:xfrm>
          <a:prstGeom prst="roundRect">
            <a:avLst>
              <a:gd name="adj" fmla="val 14507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5312" y="14859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5657708" y="1619250"/>
            <a:ext cx="18097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05312" y="2095499"/>
            <a:ext cx="255263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5312" y="2495550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Staff Workload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7988" y="1209674"/>
            <a:ext cx="2971725" cy="1838324"/>
          </a:xfrm>
          <a:prstGeom prst="roundRect">
            <a:avLst>
              <a:gd name="adj" fmla="val 14507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67533" y="14859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8800879" y="1619250"/>
            <a:ext cx="209544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67533" y="2095499"/>
            <a:ext cx="255263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&lt;3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7533" y="2495550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Appointment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Booking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95767" y="3238500"/>
            <a:ext cx="2971725" cy="1838324"/>
          </a:xfrm>
          <a:prstGeom prst="roundRect">
            <a:avLst>
              <a:gd name="adj" fmla="val 14507"/>
            </a:avLst>
          </a:prstGeom>
          <a:solidFill>
            <a:srgbClr val="FFFFFF"/>
          </a:solidFill>
          <a:ln w="41275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05312" y="35147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EAF6"/>
              </a:gs>
              <a:gs pos="100000">
                <a:srgbClr val="C5CAE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5619609" y="3648074"/>
            <a:ext cx="266693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05312" y="4124324"/>
            <a:ext cx="255263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&gt;50%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5312" y="4524374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Portal Adoption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7988" y="3238500"/>
            <a:ext cx="2971725" cy="1838324"/>
          </a:xfrm>
          <a:prstGeom prst="roundRect">
            <a:avLst>
              <a:gd name="adj" fmla="val 14507"/>
            </a:avLst>
          </a:prstGeom>
          <a:solidFill>
            <a:srgbClr val="FFFFFF"/>
          </a:solidFill>
          <a:ln w="41275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67533" y="3514725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3E5F5"/>
              </a:gs>
              <a:gs pos="100000">
                <a:srgbClr val="E1BE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8800879" y="3648074"/>
            <a:ext cx="209544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67533" y="4124324"/>
            <a:ext cx="255263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39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7533" y="4524374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Patient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Satisfaction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95767" y="5314950"/>
            <a:ext cx="6133946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24361" y="5505450"/>
            <a:ext cx="5676758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Outcomes: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Paperless report handling, enhanced patient engagement with real-time notifications, streamlined operations with AI-powered chatbot support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1295399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1295399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CONVERSATIONAL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600200"/>
            <a:ext cx="4048023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Multi-Modal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7432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876278" y="2838450"/>
            <a:ext cx="114297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7743" y="2724150"/>
            <a:ext cx="343843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Voice Biometrics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43" y="3000375"/>
            <a:ext cx="343843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99.1% accuracy, 3s authentication, secure user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3343275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838179" y="3438525"/>
            <a:ext cx="190495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7743" y="3324225"/>
            <a:ext cx="30764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Multi-Language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43" y="3590924"/>
            <a:ext cx="30764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Bangla, English, Banglish + 40+ language translation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394335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57228" y="4038599"/>
            <a:ext cx="152396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7743" y="3924299"/>
            <a:ext cx="284790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Sentiment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743" y="4190999"/>
            <a:ext cx="284790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Predicts escalation 90s early with 72%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533900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38179" y="4629150"/>
            <a:ext cx="190495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47743" y="4514850"/>
            <a:ext cx="300029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Negotiation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43" y="4791075"/>
            <a:ext cx="300029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Reinforcement learning for discounts and upgrades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1980" y="5133975"/>
            <a:ext cx="342891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838179" y="5229225"/>
            <a:ext cx="190495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47743" y="5114925"/>
            <a:ext cx="348606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195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Whisper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7743" y="5391150"/>
            <a:ext cx="348606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Real-time knowledge surfacing &amp; automated summarization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96247" y="-666750"/>
            <a:ext cx="2666933" cy="2667000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5819629" y="600075"/>
            <a:ext cx="247643" cy="2476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81570" y="561974"/>
            <a:ext cx="36384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Customer Care &amp; Platform Guides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19629" y="1219200"/>
            <a:ext cx="2943151" cy="1695449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054455" y="1984374"/>
            <a:ext cx="16954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38699" y="1409699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6143471" y="1533525"/>
            <a:ext cx="219069" cy="1904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8699" y="1952624"/>
            <a:ext cx="25526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E-Commerce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8699" y="2247899"/>
            <a:ext cx="255263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Product search, personalized recommendations, order tracking, smart negotiations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177" y="1219200"/>
            <a:ext cx="2943151" cy="1695449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8150003" y="1984374"/>
            <a:ext cx="16954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34246" y="1409699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9239019" y="1533525"/>
            <a:ext cx="219069" cy="1904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34246" y="1952624"/>
            <a:ext cx="25526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Virtual Tour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4246" y="2247899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Interactive museum/experience navigation, contextual information, multi-language support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19629" y="3067050"/>
            <a:ext cx="2943151" cy="1533525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135417" y="3751262"/>
            <a:ext cx="15335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38699" y="3257550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EAF6"/>
              </a:gs>
              <a:gs pos="100000">
                <a:srgbClr val="C5CAE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133946" y="3381375"/>
            <a:ext cx="238119" cy="1904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38699" y="3800475"/>
            <a:ext cx="25526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LMS Platform Guide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8699" y="4095749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Course recommendations, learning path optimization, instructor Q&amp;A, progress tracking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177" y="3067050"/>
            <a:ext cx="2943151" cy="1533525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8230965" y="3751262"/>
            <a:ext cx="15335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34246" y="3257550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3E5F5"/>
              </a:gs>
              <a:gs pos="100000">
                <a:srgbClr val="E1BE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9258068" y="3381375"/>
            <a:ext cx="190495" cy="19049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34246" y="3800475"/>
            <a:ext cx="25526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Banking Assistant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246" y="4095749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Balance inquiries, fund transfers, fraud alerts, financial advice 24/7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19629" y="4752974"/>
            <a:ext cx="2943151" cy="1533525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5135417" y="5437186"/>
            <a:ext cx="15335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8699" y="4943475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BBD0"/>
              </a:gs>
              <a:gs pos="100000">
                <a:srgbClr val="F48FB1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6172045" y="5067299"/>
            <a:ext cx="171445" cy="19049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038699" y="5486400"/>
            <a:ext cx="25526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Virtual Doctor (GP)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8699" y="5781674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Symptom triage, health advice, appointment scheduling, prescription guidance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15177" y="4752974"/>
            <a:ext cx="2943151" cy="1533525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8230965" y="5437186"/>
            <a:ext cx="15335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34246" y="4943475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9229494" y="5067299"/>
            <a:ext cx="238119" cy="19049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134246" y="5486400"/>
            <a:ext cx="255263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52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Instructor Support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4246" y="5781674"/>
            <a:ext cx="255263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Automated grading, student performance analysis, content recommendations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571500"/>
            <a:ext cx="57148" cy="819149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1676400"/>
            <a:ext cx="34860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CONVERSATIONAL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2057400"/>
            <a:ext cx="3486062" cy="1009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1950"/>
              </a:spcAft>
            </a:pP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Pain Points</a:t>
            </a:r>
            <a:r>
              <a:rPr sz="1104"/>
              <a:t>
</a:t>
            </a:r>
            <a:r>
              <a:rPr sz="2870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Solved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3381375"/>
            <a:ext cx="228594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21" y="3352800"/>
            <a:ext cx="31241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Call-Center Cost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21" y="3629025"/>
            <a:ext cx="312412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$1.30-1.80/minute, 15% YoY handle time increase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761980" y="4067174"/>
            <a:ext cx="228594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4038599"/>
            <a:ext cx="31241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Language Barriers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21" y="4314825"/>
            <a:ext cx="312412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72% prefer native language, 40% international leads lost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761980" y="4952999"/>
            <a:ext cx="228594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4924424"/>
            <a:ext cx="31241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High Cart Abandonment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5200650"/>
            <a:ext cx="312412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70% due to lack of real-time assistance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761980" y="5638799"/>
            <a:ext cx="228594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5610224"/>
            <a:ext cx="31241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Low-Value Inquiries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5886450"/>
            <a:ext cx="312412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60% of banking calls are simple account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86742" y="-9524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00519" y="2019299"/>
            <a:ext cx="1981150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6057748" y="2286000"/>
            <a:ext cx="266693" cy="2666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76778" y="2667000"/>
            <a:ext cx="62863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5807" y="3047999"/>
            <a:ext cx="1000099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Conversion Lift</a:t>
            </a:r>
            <a:r>
              <a:rPr sz="1104"/>
              <a:t>
</a:t>
            </a:r>
            <a:r>
              <a:rPr sz="71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Voice Commerce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2165" y="2019299"/>
            <a:ext cx="1981150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8248443" y="2286000"/>
            <a:ext cx="238119" cy="2666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91275" y="2667000"/>
            <a:ext cx="75245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+12%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4126" y="3047999"/>
            <a:ext cx="857228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Average Order</a:t>
            </a:r>
            <a:r>
              <a:rPr sz="1104"/>
              <a:t>
</a:t>
            </a:r>
            <a:r>
              <a:rPr sz="71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Value Increase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3811" y="2019299"/>
            <a:ext cx="1981150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 w="3302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10372465" y="2286000"/>
            <a:ext cx="333366" cy="2666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91495" y="2667000"/>
            <a:ext cx="67625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1970" y="3047999"/>
            <a:ext cx="704832" cy="2952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Call Volume</a:t>
            </a:r>
            <a:r>
              <a:rPr sz="1104"/>
              <a:t>
</a:t>
            </a:r>
            <a:r>
              <a:rPr sz="71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Reduction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00519" y="3857625"/>
            <a:ext cx="6324441" cy="981074"/>
          </a:xfrm>
          <a:prstGeom prst="roundRect">
            <a:avLst>
              <a:gd name="adj" fmla="val 23300"/>
            </a:avLst>
          </a:prstGeom>
          <a:gradFill rotWithShape="1">
            <a:gsLst>
              <a:gs pos="0">
                <a:srgbClr val="42A5F5"/>
              </a:gs>
              <a:gs pos="100000">
                <a:srgbClr val="5C6BC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7213" y="4048124"/>
            <a:ext cx="536244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ANNUAL SAVINGS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7213" y="4305300"/>
            <a:ext cx="536244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~$12M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11020149" y="4162424"/>
            <a:ext cx="238119" cy="38099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10496287" y="6410324"/>
            <a:ext cx="152396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24881" y="6400800"/>
            <a:ext cx="108582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Poppins"/>
                <a:rFonts ascii="Poppins" hAnsi="Poppins" eastAsia="Poppins" cs="Poppins"/>
              </a:rPr>
              <a:t>AI INNOVATIONS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1238249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1238249"/>
            <a:ext cx="307649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DOCUMENT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543050"/>
            <a:ext cx="3076498" cy="752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Banking OCR/ICR</a:t>
            </a:r>
            <a:r>
              <a:rPr sz="1104"/>
              <a:t>
</a:t>
            </a: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819399"/>
            <a:ext cx="3828954" cy="1314450"/>
          </a:xfrm>
          <a:prstGeom prst="roundRect">
            <a:avLst>
              <a:gd name="adj" fmla="val 17391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87305" y="3394074"/>
            <a:ext cx="131445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1000099" y="3047999"/>
            <a:ext cx="171445" cy="1333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57268" y="3009900"/>
            <a:ext cx="156206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Technical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99" y="3324225"/>
            <a:ext cx="1219169" cy="276225"/>
          </a:xfrm>
          <a:prstGeom prst="roundRect">
            <a:avLst>
              <a:gd name="adj" fmla="val 103448"/>
            </a:avLst>
          </a:prstGeom>
          <a:solidFill>
            <a:srgbClr val="FFFFFF"/>
          </a:solidFill>
          <a:ln w="825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99" y="3324225"/>
            <a:ext cx="1219169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Vision 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95467" y="3324225"/>
            <a:ext cx="1457288" cy="276225"/>
          </a:xfrm>
          <a:prstGeom prst="roundRect">
            <a:avLst>
              <a:gd name="adj" fmla="val 103448"/>
            </a:avLst>
          </a:prstGeom>
          <a:solidFill>
            <a:srgbClr val="FFFFFF"/>
          </a:solidFill>
          <a:ln w="825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95467" y="3324225"/>
            <a:ext cx="145728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Confidence-Based HITL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99" y="3676649"/>
            <a:ext cx="1295367" cy="276225"/>
          </a:xfrm>
          <a:prstGeom prst="roundRect">
            <a:avLst>
              <a:gd name="adj" fmla="val 103448"/>
            </a:avLst>
          </a:prstGeom>
          <a:solidFill>
            <a:srgbClr val="FFFFFF"/>
          </a:solidFill>
          <a:ln w="825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099" y="3676649"/>
            <a:ext cx="129536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Immutable Audit 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1665" y="3676649"/>
            <a:ext cx="1190595" cy="276225"/>
          </a:xfrm>
          <a:prstGeom prst="roundRect">
            <a:avLst>
              <a:gd name="adj" fmla="val 103448"/>
            </a:avLst>
          </a:prstGeom>
          <a:solidFill>
            <a:srgbClr val="FFFFFF"/>
          </a:solidFill>
          <a:ln w="825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1665" y="3676649"/>
            <a:ext cx="119059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Tesseract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324349"/>
            <a:ext cx="3828954" cy="1285875"/>
          </a:xfrm>
          <a:prstGeom prst="roundRect">
            <a:avLst>
              <a:gd name="adj" fmla="val 1777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01593" y="4884736"/>
            <a:ext cx="12858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000099" y="4552949"/>
            <a:ext cx="114297" cy="1333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9644" y="4514850"/>
            <a:ext cx="84770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99" y="4829175"/>
            <a:ext cx="3400339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777" b="1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95%+</a:t>
            </a:r>
            <a:r>
              <a:rPr sz="77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English Accuracy</a:t>
            </a:r>
            <a:r>
              <a:rPr sz="1104"/>
              <a:t>
</a:t>
            </a:r>
            <a:r>
              <a:rPr sz="77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777" b="1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85%+</a:t>
            </a:r>
            <a:r>
              <a:rPr sz="77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Bangla Accuracy</a:t>
            </a:r>
            <a:r>
              <a:rPr sz="1104"/>
              <a:t>
</a:t>
            </a:r>
            <a:r>
              <a:rPr sz="77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777" b="1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70-80%</a:t>
            </a:r>
            <a:r>
              <a:rPr sz="77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Faster Processing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96247" y="-9524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52916" y="457200"/>
            <a:ext cx="2990775" cy="2876549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4937" y="771525"/>
            <a:ext cx="666733" cy="666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6686382" y="971550"/>
            <a:ext cx="333366" cy="2666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19629" y="1609724"/>
            <a:ext cx="204782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780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Account-Opening &amp; KYC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1510" y="1962149"/>
            <a:ext cx="2533586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975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Auto-pass &amp; maker-checker workflow with confidence scoring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81510" y="2476499"/>
            <a:ext cx="2533586" cy="590549"/>
          </a:xfrm>
          <a:prstGeom prst="roundRect">
            <a:avLst>
              <a:gd name="adj" fmla="val 2580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33906" y="2571750"/>
            <a:ext cx="222879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95%+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906" y="2819399"/>
            <a:ext cx="222879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English Accuracy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34186" y="457200"/>
            <a:ext cx="2990775" cy="2876549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96207" y="771525"/>
            <a:ext cx="666733" cy="666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9877178" y="971550"/>
            <a:ext cx="304792" cy="2666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29494" y="1609724"/>
            <a:ext cx="16001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780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Cheque 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2780" y="1962149"/>
            <a:ext cx="2533586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975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Handwriting recognition &amp; fraud detection with AI 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62780" y="2476499"/>
            <a:ext cx="2533586" cy="590549"/>
          </a:xfrm>
          <a:prstGeom prst="roundRect">
            <a:avLst>
              <a:gd name="adj" fmla="val 2580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177" y="2571750"/>
            <a:ext cx="222879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85%+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177" y="2819399"/>
            <a:ext cx="222879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Bangla Accuracy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52916" y="3524250"/>
            <a:ext cx="2990775" cy="2876549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14937" y="3838574"/>
            <a:ext cx="666733" cy="666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6743531" y="4038599"/>
            <a:ext cx="200019" cy="2666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05372" y="4676775"/>
            <a:ext cx="149538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780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Loan Applications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1510" y="5029200"/>
            <a:ext cx="2533586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975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Multi-page PDF splitting &amp; structured data extraction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81510" y="5543550"/>
            <a:ext cx="2533586" cy="590549"/>
          </a:xfrm>
          <a:prstGeom prst="roundRect">
            <a:avLst>
              <a:gd name="adj" fmla="val 2580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33906" y="5638799"/>
            <a:ext cx="222879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70-80%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33906" y="5886450"/>
            <a:ext cx="222879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Faster Processing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34186" y="3524250"/>
            <a:ext cx="2990775" cy="2876549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96207" y="3838574"/>
            <a:ext cx="666733" cy="666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9924801" y="4038599"/>
            <a:ext cx="200019" cy="26669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43771" y="4676775"/>
            <a:ext cx="178113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780"/>
              </a:spcAft>
            </a:pPr>
            <a:r>
              <a:rPr sz="101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Regulatory Reporting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62780" y="5029200"/>
            <a:ext cx="2533586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975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Immutable audit log &amp; compliance dashboards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62780" y="5543550"/>
            <a:ext cx="2533586" cy="590549"/>
          </a:xfrm>
          <a:prstGeom prst="roundRect">
            <a:avLst>
              <a:gd name="adj" fmla="val 2580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5177" y="5638799"/>
            <a:ext cx="222879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177" y="5886450"/>
            <a:ext cx="222879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0">
                <a:solidFill>
                  <a:srgbClr val="9E9E9E"/>
                </a:solidFill>
                <a:latin typeface="Inter"/>
                <a:rFonts ascii="Inter" hAnsi="Inter" eastAsia="Inter" cs="Inter"/>
              </a:rPr>
              <a:t>Audit Ready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571500"/>
            <a:ext cx="57148" cy="77152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1628775"/>
            <a:ext cx="34860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BANKING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2009774"/>
            <a:ext cx="3486062" cy="10858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2275"/>
              </a:spcAft>
            </a:pPr>
            <a:r>
              <a:rPr sz="3109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Pain Points</a:t>
            </a:r>
            <a:r>
              <a:rPr sz="1104"/>
              <a:t>
</a:t>
            </a:r>
            <a:r>
              <a:rPr sz="3109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Solved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800079" y="3495675"/>
            <a:ext cx="228594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3467100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Time-Consuming Entry: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15-20 minutes per document, 2-5% error rates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800079" y="4210049"/>
            <a:ext cx="228594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4181474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Poor Scan Quality: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Mixed Bangla-English text, handwriting, strikethroughs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00079" y="4924424"/>
            <a:ext cx="228594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4895849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Compliance Gaps: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No automated audit trail or maker-checker workflow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00079" y="5638799"/>
            <a:ext cx="228594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20" y="5610224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Limited Scalability: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Paper-centric processes cannot scale with digital banking growth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86742" y="-1143000"/>
            <a:ext cx="3047923" cy="3047999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00519" y="1171575"/>
            <a:ext cx="3076498" cy="1762125"/>
          </a:xfrm>
          <a:prstGeom prst="roundRect">
            <a:avLst>
              <a:gd name="adj" fmla="val 15135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5412" y="142875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6667333" y="1562100"/>
            <a:ext cx="16192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24441" y="2038349"/>
            <a:ext cx="8381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9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95%+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788" y="2400300"/>
            <a:ext cx="561960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English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8463" y="1171575"/>
            <a:ext cx="3076498" cy="1762125"/>
          </a:xfrm>
          <a:prstGeom prst="roundRect">
            <a:avLst>
              <a:gd name="adj" fmla="val 15135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53356" y="142875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9858128" y="1562100"/>
            <a:ext cx="266693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62860" y="2038349"/>
            <a:ext cx="85722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9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85%+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5732" y="2400300"/>
            <a:ext cx="561960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Bangla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0519" y="3105149"/>
            <a:ext cx="3076498" cy="1762125"/>
          </a:xfrm>
          <a:prstGeom prst="roundRect">
            <a:avLst>
              <a:gd name="adj" fmla="val 15135"/>
            </a:avLst>
          </a:prstGeom>
          <a:solidFill>
            <a:srgbClr val="FFFFFF"/>
          </a:solidFill>
          <a:ln w="41275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05412" y="33528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EAF6"/>
              </a:gs>
              <a:gs pos="100000">
                <a:srgbClr val="C5CAE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6648283" y="3486150"/>
            <a:ext cx="180970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133946" y="3962399"/>
            <a:ext cx="121916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9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70-80%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164" y="4324349"/>
            <a:ext cx="657208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Faster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8463" y="3105149"/>
            <a:ext cx="3076498" cy="1762125"/>
          </a:xfrm>
          <a:prstGeom prst="roundRect">
            <a:avLst>
              <a:gd name="adj" fmla="val 15135"/>
            </a:avLst>
          </a:prstGeom>
          <a:solidFill>
            <a:srgbClr val="FFFFFF"/>
          </a:solidFill>
          <a:ln w="41275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53356" y="33528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3E5F5"/>
              </a:gs>
              <a:gs pos="100000">
                <a:srgbClr val="E1BE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9886702" y="3486150"/>
            <a:ext cx="209544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77138" y="396239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90"/>
              </a:spcAft>
            </a:pPr>
            <a:r>
              <a:rPr sz="191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&lt;3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0484" y="4324349"/>
            <a:ext cx="752456" cy="323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Review Time</a:t>
            </a:r>
            <a:r>
              <a:rPr sz="1104"/>
              <a:t>
</a:t>
            </a: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Per 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00519" y="5095874"/>
            <a:ext cx="6324441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9114" y="5286375"/>
            <a:ext cx="5867253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Outcomes:</a:t>
            </a:r>
            <a:r>
              <a:rPr sz="837" b="0">
                <a:solidFill>
                  <a:srgbClr val="616161"/>
                </a:solidFill>
                <a:latin typeface="Poppins"/>
                <a:rFonts ascii="Poppins" hAnsi="Poppins" eastAsia="Poppins" cs="Poppins"/>
              </a:rPr>
              <a:t> Accelerated clearing, fewer disputes, improved fraud detection, satisfies central-bank requirements, supports digital lending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4820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1123949"/>
            <a:ext cx="57148" cy="619124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1123949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FINANCIAL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400175"/>
            <a:ext cx="2314517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sz="203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Digital Wallet</a:t>
            </a:r>
            <a:r>
              <a:rPr sz="1104"/>
              <a:t>
</a:t>
            </a:r>
            <a:r>
              <a:rPr sz="2033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&amp; Payments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2352675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618470" y="2496185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933426" y="2476499"/>
            <a:ext cx="266693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5367" y="2466975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Identity &amp;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1270" y="2352675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037760" y="2496185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3352716" y="2476499"/>
            <a:ext cx="266693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14657" y="2466975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Wallet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2905124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18470" y="3048634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933426" y="3019424"/>
            <a:ext cx="266693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367" y="3019424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Payments &amp;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1270" y="2905124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037760" y="3048634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3352716" y="3019424"/>
            <a:ext cx="266693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14657" y="3019424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Ledger &amp; Accounting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1980" y="3448049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18470" y="3591559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933426" y="3571875"/>
            <a:ext cx="266693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95367" y="3562349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KYC/KYB Onboarding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1270" y="3448049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037760" y="3591559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3352716" y="3571875"/>
            <a:ext cx="266693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14657" y="356234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Compliance &amp; Sanctions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980" y="4000500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18470" y="414401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933426" y="4114800"/>
            <a:ext cx="266693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95367" y="4114800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Support &amp; Admin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1270" y="4000500"/>
            <a:ext cx="2285942" cy="419100"/>
          </a:xfrm>
          <a:prstGeom prst="roundRect">
            <a:avLst>
              <a:gd name="adj" fmla="val 3636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037760" y="414401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3352716" y="4114800"/>
            <a:ext cx="266693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714657" y="4114800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Blockchain &amp; dApps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1980" y="4600575"/>
            <a:ext cx="4705232" cy="1133475"/>
          </a:xfrm>
          <a:prstGeom prst="roundRect">
            <a:avLst>
              <a:gd name="adj" fmla="val 16806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261283" y="5101272"/>
            <a:ext cx="1133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952476" y="4781549"/>
            <a:ext cx="142871" cy="1238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71545" y="4752974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Core Capabilities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2476" y="5038724"/>
            <a:ext cx="866753" cy="238124"/>
          </a:xfrm>
          <a:prstGeom prst="roundRect">
            <a:avLst>
              <a:gd name="adj" fmla="val 9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476" y="5038724"/>
            <a:ext cx="8667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MFS Platform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95427" y="5038724"/>
            <a:ext cx="952476" cy="238124"/>
          </a:xfrm>
          <a:prstGeom prst="roundRect">
            <a:avLst>
              <a:gd name="adj" fmla="val 9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95427" y="5038724"/>
            <a:ext cx="95247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Digital Banking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4101" y="5038724"/>
            <a:ext cx="1104872" cy="238124"/>
          </a:xfrm>
          <a:prstGeom prst="roundRect">
            <a:avLst>
              <a:gd name="adj" fmla="val 9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4101" y="5038724"/>
            <a:ext cx="110487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Payment Gateway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05172" y="5038724"/>
            <a:ext cx="1104872" cy="238124"/>
          </a:xfrm>
          <a:prstGeom prst="roundRect">
            <a:avLst>
              <a:gd name="adj" fmla="val 9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05172" y="5038724"/>
            <a:ext cx="110487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Merchant Payouts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2476" y="5343525"/>
            <a:ext cx="1200119" cy="238124"/>
          </a:xfrm>
          <a:prstGeom prst="roundRect">
            <a:avLst>
              <a:gd name="adj" fmla="val 9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2476" y="5343525"/>
            <a:ext cx="120011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65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Compliance Fintech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8203" y="0"/>
            <a:ext cx="6343491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096247" y="-761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72045" y="933449"/>
            <a:ext cx="5705332" cy="4981574"/>
          </a:xfrm>
          <a:prstGeom prst="roundRect">
            <a:avLst>
              <a:gd name="adj" fmla="val 6118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438739" y="1276350"/>
            <a:ext cx="333366" cy="26669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86402" y="1257300"/>
            <a:ext cx="255263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Blockchain Enablement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6448263" y="2076449"/>
            <a:ext cx="219069" cy="1714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19729" y="2019299"/>
            <a:ext cx="160015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195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Blockchain-Backed Wallet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53236" y="2019299"/>
            <a:ext cx="3057448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Tokenized balance representation &amp; on-chain recording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6476838" y="2876549"/>
            <a:ext cx="171445" cy="1714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19729" y="2819399"/>
            <a:ext cx="163825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195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Stablecoin-Based Payments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81810" y="2819399"/>
            <a:ext cx="301934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Remittance, cross-border settlement, merchant payments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6495887" y="3676649"/>
            <a:ext cx="133346" cy="17145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19729" y="3619499"/>
            <a:ext cx="161920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195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Smart Contract Automation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62760" y="3619499"/>
            <a:ext cx="3038399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Programmable treasury workflows &amp; payment automation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6476838" y="4476750"/>
            <a:ext cx="171445" cy="17145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19729" y="4419600"/>
            <a:ext cx="157158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195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Hybrid Fiat-Crypto Wallet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24661" y="4419600"/>
            <a:ext cx="3086022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Seamless fiat-to-crypto and crypto-to-fiat transactions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6">
            <a:alphaModFix amt="10000000000"/>
          </a:blip>
          <a:stretch>
            <a:fillRect/>
          </a:stretch>
        </p:blipFill>
        <p:spPr>
          <a:xfrm>
            <a:off x="6467313" y="5276850"/>
            <a:ext cx="190495" cy="17145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819729" y="5219700"/>
            <a:ext cx="1743031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195"/>
              </a:spcAft>
            </a:pPr>
            <a:r>
              <a:rPr sz="83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Blockchain Identity Verification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96107" y="5219700"/>
            <a:ext cx="2914577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Decentralized credentials &amp; external network integrations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7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571500"/>
            <a:ext cx="57148" cy="571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914400"/>
            <a:ext cx="34860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FINTECH WALLET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1295399"/>
            <a:ext cx="3486062" cy="10858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705"/>
              </a:lnSpc>
              <a:spcBef>
                <a:spcPts val="0"/>
              </a:spcBef>
              <a:spcAft>
                <a:spcPts val="2275"/>
              </a:spcAft>
            </a:pPr>
            <a:r>
              <a:rPr sz="3109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Pain Points</a:t>
            </a:r>
            <a:r>
              <a:rPr sz="1104"/>
              <a:t>
</a:t>
            </a:r>
            <a:r>
              <a:rPr sz="3109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Solved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800079" y="2781300"/>
            <a:ext cx="228594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2752725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Fragmented Services: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Separate systems for onboarding, payments, accounting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800079" y="3495675"/>
            <a:ext cx="228594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3467100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Complex Compliance: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Manual KYC/KYB checks slow onboarding, increase errors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00079" y="4210049"/>
            <a:ext cx="228594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4181474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Limited Interoperability: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Wallets locked into specific providers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800079" y="4924424"/>
            <a:ext cx="228594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20" y="4895849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Ledger Integrity: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No double-entry accounting, difficult reconciliation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800079" y="5638799"/>
            <a:ext cx="228594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2020" y="5610224"/>
            <a:ext cx="3047923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</a:t>
            </a:r>
            <a:r>
              <a:rPr sz="897" b="1">
                <a:solidFill>
                  <a:srgbClr val="EF5350"/>
                </a:solidFill>
                <a:latin typeface="Inter"/>
                <a:rFonts ascii="Inter" hAnsi="Inter" eastAsia="Inter" cs="Inter"/>
              </a:rPr>
              <a:t>Crypto Adoption:</a:t>
            </a:r>
            <a:r>
              <a:rPr sz="89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Existing wallets lack blockchain integration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6742" y="-1143000"/>
            <a:ext cx="3047923" cy="3047999"/>
          </a:xfrm>
          <a:prstGeom prst="roundRect">
            <a:avLst>
              <a:gd name="adj" fmla="val 50000"/>
            </a:avLst>
          </a:prstGeom>
          <a:solidFill>
            <a:srgbClr val="E3F2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00519" y="1476375"/>
            <a:ext cx="3076498" cy="142875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4127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05412" y="173355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6638759" y="1866899"/>
            <a:ext cx="209544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00599" y="2343150"/>
            <a:ext cx="148586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Automated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539" y="2552700"/>
            <a:ext cx="2685982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Reduced verification time, regulatory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8463" y="1476375"/>
            <a:ext cx="3076498" cy="142875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41275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53356" y="173355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9991475" y="1971675"/>
            <a:ext cx="6502400" cy="650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372365" y="2343150"/>
            <a:ext cx="123821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Built-in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8503" y="2552700"/>
            <a:ext cx="2276418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KYC/KYB workflows, sanctions screening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00519" y="3076574"/>
            <a:ext cx="3076498" cy="142875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41275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05412" y="3333749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EAF6"/>
              </a:gs>
              <a:gs pos="100000">
                <a:srgbClr val="C5CAE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6619709" y="3467100"/>
            <a:ext cx="238119" cy="2095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3943350"/>
            <a:ext cx="128584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Rapid Productisation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5787" y="4152899"/>
            <a:ext cx="2485962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MFS, digital banking, payment gateway ready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8463" y="3076574"/>
            <a:ext cx="3076498" cy="142875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41275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53356" y="3333749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3E5F5"/>
              </a:gs>
              <a:gs pos="100000">
                <a:srgbClr val="E1BE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9896227" y="3467100"/>
            <a:ext cx="18097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81890" y="3943350"/>
            <a:ext cx="120964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Transparent Ledger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2325" y="4152899"/>
            <a:ext cx="2028774" cy="1333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Double-entry accounting, auditability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00519" y="4733925"/>
            <a:ext cx="6324441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42A5F5"/>
              </a:gs>
              <a:gs pos="100000">
                <a:srgbClr val="5C6BC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>
            <a:off x="5429114" y="5000625"/>
            <a:ext cx="304792" cy="304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24401" y="4924424"/>
            <a:ext cx="40765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260"/>
              </a:spcAft>
            </a:pPr>
            <a:r>
              <a:rPr sz="777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Future-Proofing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24401" y="5153024"/>
            <a:ext cx="40765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Hybrid Web2-Web3 Wallet • Blockchain Enablement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00999" y="-1428750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781050"/>
            <a:ext cx="57148" cy="57150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685800"/>
            <a:ext cx="48957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990599"/>
            <a:ext cx="4895727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Layered 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1819275"/>
            <a:ext cx="5219569" cy="2009774"/>
          </a:xfrm>
          <a:prstGeom prst="roundRect">
            <a:avLst>
              <a:gd name="adj" fmla="val 1516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43847" y="2725102"/>
            <a:ext cx="2009774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872" y="2105024"/>
            <a:ext cx="4762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3981" y="2190749"/>
            <a:ext cx="190495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Client Access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872" y="2733674"/>
            <a:ext cx="1038199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872" y="2733674"/>
            <a:ext cx="103819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Mobile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8319" y="2733674"/>
            <a:ext cx="904852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8319" y="2733674"/>
            <a:ext cx="904852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Web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8894" y="2733674"/>
            <a:ext cx="1057248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8894" y="2733674"/>
            <a:ext cx="105724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Admin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1390" y="2733674"/>
            <a:ext cx="1028674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1390" y="2733674"/>
            <a:ext cx="1028674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Partner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4" y="1819275"/>
            <a:ext cx="5219569" cy="2009774"/>
          </a:xfrm>
          <a:prstGeom prst="roundRect">
            <a:avLst>
              <a:gd name="adj" fmla="val 1516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304317" y="2725102"/>
            <a:ext cx="2009774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36" y="2105024"/>
            <a:ext cx="4762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1670" y="2190749"/>
            <a:ext cx="22668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API &amp; Application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36" y="2733674"/>
            <a:ext cx="1171545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36" y="2733674"/>
            <a:ext cx="117154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9829" y="2733674"/>
            <a:ext cx="1142971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9829" y="2733674"/>
            <a:ext cx="114297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Wallet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8048" y="2733674"/>
            <a:ext cx="876278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8048" y="2733674"/>
            <a:ext cx="876278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Payments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29574" y="2733674"/>
            <a:ext cx="847703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9574" y="2733674"/>
            <a:ext cx="84770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KYC/KYB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036" y="3181350"/>
            <a:ext cx="1000099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3036" y="3181350"/>
            <a:ext cx="100009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Compliance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48383" y="3181350"/>
            <a:ext cx="704832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8383" y="3181350"/>
            <a:ext cx="704832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Ledger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1980" y="4067174"/>
            <a:ext cx="5219569" cy="2009774"/>
          </a:xfrm>
          <a:prstGeom prst="roundRect">
            <a:avLst>
              <a:gd name="adj" fmla="val 1516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-143847" y="4973001"/>
            <a:ext cx="2009774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872" y="4352924"/>
            <a:ext cx="4762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5C6BC0"/>
                </a:solidFill>
                <a:latin typeface="Poppins"/>
                <a:rFonts ascii="Poppins" hAnsi="Poppins" eastAsia="Poppins" cs="Poppin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3981" y="4438649"/>
            <a:ext cx="168588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Integration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4872" y="4981574"/>
            <a:ext cx="1409664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4872" y="4981574"/>
            <a:ext cx="1409664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Payment Providers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9784" y="4981574"/>
            <a:ext cx="1114397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9784" y="4981574"/>
            <a:ext cx="1114397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SMS Gateway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28954" y="4981574"/>
            <a:ext cx="1095347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28954" y="4981574"/>
            <a:ext cx="1095347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Email Service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4872" y="5429250"/>
            <a:ext cx="1000099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4872" y="5429250"/>
            <a:ext cx="100009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File Storage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4" y="4067174"/>
            <a:ext cx="5219569" cy="2009774"/>
          </a:xfrm>
          <a:prstGeom prst="roundRect">
            <a:avLst>
              <a:gd name="adj" fmla="val 15165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304317" y="4973001"/>
            <a:ext cx="2009774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036" y="4352924"/>
            <a:ext cx="4762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E57C2"/>
                </a:solidFill>
                <a:latin typeface="Poppins"/>
                <a:rFonts ascii="Poppins" hAnsi="Poppins" eastAsia="Poppins" cs="Poppin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1670" y="4438649"/>
            <a:ext cx="20859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Data &amp; Infrastructure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53036" y="4981574"/>
            <a:ext cx="990575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3036" y="4981574"/>
            <a:ext cx="99057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PostgreSQL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48383" y="4981574"/>
            <a:ext cx="1028674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8383" y="4981574"/>
            <a:ext cx="1028674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Redis Cache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2305" y="4981574"/>
            <a:ext cx="1400139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2305" y="4981574"/>
            <a:ext cx="1400139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Document Storage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53036" y="5429250"/>
            <a:ext cx="923901" cy="361950"/>
          </a:xfrm>
          <a:prstGeom prst="roundRect">
            <a:avLst>
              <a:gd name="adj" fmla="val 105263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3036" y="5429250"/>
            <a:ext cx="92390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Audit Logs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533399"/>
            <a:ext cx="57148" cy="714375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533399"/>
            <a:ext cx="316222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838200"/>
            <a:ext cx="316222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581149"/>
            <a:ext cx="3486062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950"/>
              </a:spcAft>
            </a:pPr>
            <a:r>
              <a:rPr sz="89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Measurable outcomes demonstrating AI-driven efficiency, cost reduction, and quality improvements across healthcare and banking 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980" y="2781300"/>
            <a:ext cx="3486062" cy="761999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447021" y="3096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971525" y="3047999"/>
            <a:ext cx="285742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9664" y="2933699"/>
            <a:ext cx="26669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9664" y="3200400"/>
            <a:ext cx="26669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Screening Time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0" y="3714750"/>
            <a:ext cx="3486062" cy="761999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447021" y="40297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971525" y="3971925"/>
            <a:ext cx="285742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9664" y="3867149"/>
            <a:ext cx="26669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64" y="4133849"/>
            <a:ext cx="26669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Early Cancer Detection Increase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80" y="4638674"/>
            <a:ext cx="3486062" cy="761999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47021" y="49536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971525" y="4905375"/>
            <a:ext cx="285742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09664" y="4791075"/>
            <a:ext cx="26669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9664" y="5057775"/>
            <a:ext cx="26669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Radiologist Workload 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1980" y="5562600"/>
            <a:ext cx="3486062" cy="761999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47021" y="58775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971525" y="5829300"/>
            <a:ext cx="285742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09664" y="5715000"/>
            <a:ext cx="26669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95.6%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9664" y="5981699"/>
            <a:ext cx="26669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OCR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86742" y="-1428750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5010024" y="638175"/>
            <a:ext cx="266693" cy="2666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1015" y="600075"/>
            <a:ext cx="21430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Pain Points Solved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10024" y="1314450"/>
            <a:ext cx="2152596" cy="2390774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81470" y="15621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5314817" y="1695449"/>
            <a:ext cx="209544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81470" y="2171700"/>
            <a:ext cx="18097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Healthcare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1470" y="2419349"/>
            <a:ext cx="1809704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Diagnostic Bottlenecks &amp; Wait Times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81470" y="2886075"/>
            <a:ext cx="1809704" cy="60960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95767" y="298132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5767" y="3238500"/>
            <a:ext cx="15811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1">
                <a:solidFill>
                  <a:srgbClr val="9E9E9E"/>
                </a:solidFill>
                <a:latin typeface="Inter"/>
                <a:rFonts ascii="Inter" hAnsi="Inter" eastAsia="Inter" cs="Inter"/>
              </a:rPr>
              <a:t>Faster Screening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34066" y="1314450"/>
            <a:ext cx="2152596" cy="2390774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05512" y="15621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7638859" y="1695449"/>
            <a:ext cx="209544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505512" y="2171700"/>
            <a:ext cx="18097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5512" y="2419349"/>
            <a:ext cx="1809704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High Call Volume &amp; Costs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5512" y="2886075"/>
            <a:ext cx="1809704" cy="60960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9809" y="298132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9809" y="3238500"/>
            <a:ext cx="15811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1">
                <a:solidFill>
                  <a:srgbClr val="9E9E9E"/>
                </a:solidFill>
                <a:latin typeface="Inter"/>
                <a:rFonts ascii="Inter" hAnsi="Inter" eastAsia="Inter" cs="Inter"/>
              </a:rPr>
              <a:t>Call Reduction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58108" y="1314450"/>
            <a:ext cx="2152596" cy="2390774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3302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829554" y="15621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EAF6"/>
              </a:gs>
              <a:gs pos="100000">
                <a:srgbClr val="C5CAE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9991475" y="1695449"/>
            <a:ext cx="161920" cy="2095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829554" y="2171700"/>
            <a:ext cx="18097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Healthcare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554" y="2419349"/>
            <a:ext cx="1809704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Prescription Errors &amp; Safety Risks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29554" y="2886075"/>
            <a:ext cx="1809704" cy="60960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43851" y="298132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C6BC0"/>
                </a:solidFill>
                <a:latin typeface="Poppins"/>
                <a:rFonts ascii="Poppins" hAnsi="Poppins" eastAsia="Poppins" cs="Poppins"/>
              </a:rPr>
              <a:t>95.6%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43851" y="3238500"/>
            <a:ext cx="15811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1">
                <a:solidFill>
                  <a:srgbClr val="9E9E9E"/>
                </a:solidFill>
                <a:latin typeface="Inter"/>
                <a:rFonts ascii="Inter" hAnsi="Inter" eastAsia="Inter" cs="Inter"/>
              </a:rPr>
              <a:t>OCR Accuracy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10024" y="3867149"/>
            <a:ext cx="2152596" cy="2390774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181470" y="41148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F2FD"/>
              </a:gs>
              <a:gs pos="100000">
                <a:srgbClr val="BBDEF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5314817" y="4248150"/>
            <a:ext cx="209544" cy="2095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181470" y="4724399"/>
            <a:ext cx="18097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Banking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81470" y="4972050"/>
            <a:ext cx="1809704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Document Processing Delays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81470" y="5448300"/>
            <a:ext cx="1809704" cy="60960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95767" y="554355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2A5F5"/>
                </a:solidFill>
                <a:latin typeface="Poppins"/>
                <a:rFonts ascii="Poppins" hAnsi="Poppins" eastAsia="Poppins" cs="Poppins"/>
              </a:rPr>
              <a:t>70-80%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95767" y="5791200"/>
            <a:ext cx="15811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1">
                <a:solidFill>
                  <a:srgbClr val="9E9E9E"/>
                </a:solidFill>
                <a:latin typeface="Inter"/>
                <a:rFonts ascii="Inter" hAnsi="Inter" eastAsia="Inter" cs="Inter"/>
              </a:rPr>
              <a:t>Faster Processing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34066" y="3867149"/>
            <a:ext cx="2152596" cy="2390774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05512" y="41148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F2F1"/>
              </a:gs>
              <a:gs pos="100000">
                <a:srgbClr val="B2DFD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7657908" y="4248150"/>
            <a:ext cx="180970" cy="20955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505512" y="4724399"/>
            <a:ext cx="18097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Healthcare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05512" y="4972050"/>
            <a:ext cx="1809704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Radiologist Workload Overload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5512" y="5448300"/>
            <a:ext cx="1809704" cy="60960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19809" y="554355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DB6AC"/>
                </a:solidFill>
                <a:latin typeface="Poppins"/>
                <a:rFonts ascii="Poppins" hAnsi="Poppins" eastAsia="Poppins" cs="Poppins"/>
              </a:rPr>
              <a:t>35%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19809" y="5791200"/>
            <a:ext cx="15811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1">
                <a:solidFill>
                  <a:srgbClr val="9E9E9E"/>
                </a:solidFill>
                <a:latin typeface="Inter"/>
                <a:rFonts ascii="Inter" hAnsi="Inter" eastAsia="Inter" cs="Inter"/>
              </a:rPr>
              <a:t>Workload Reduction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58108" y="3867149"/>
            <a:ext cx="2152596" cy="2390774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 w="3302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829554" y="41148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EAF6"/>
              </a:gs>
              <a:gs pos="100000">
                <a:srgbClr val="C5CAE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9953376" y="4248150"/>
            <a:ext cx="238119" cy="2095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829554" y="4724399"/>
            <a:ext cx="18097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E-commerce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554" y="4972050"/>
            <a:ext cx="18097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650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Low Conversion Rates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29554" y="5257800"/>
            <a:ext cx="1809704" cy="60960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43851" y="535304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C6BC0"/>
                </a:solidFill>
                <a:latin typeface="Poppins"/>
                <a:rFonts ascii="Poppins" hAnsi="Poppins" eastAsia="Poppins" cs="Poppins"/>
              </a:rPr>
              <a:t>22%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43851" y="5610224"/>
            <a:ext cx="15811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95"/>
              </a:spcBef>
              <a:spcAft>
                <a:spcPts val="0"/>
              </a:spcAft>
            </a:pPr>
            <a:r>
              <a:rPr sz="657" b="1">
                <a:solidFill>
                  <a:srgbClr val="9E9E9E"/>
                </a:solidFill>
                <a:latin typeface="Inter"/>
                <a:rFonts ascii="Inter" hAnsi="Inter" eastAsia="Inter" cs="Inter"/>
              </a:rPr>
              <a:t>Conversion Lift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971550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971550"/>
            <a:ext cx="229546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DELIVERY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276350"/>
            <a:ext cx="229546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009774"/>
            <a:ext cx="3733706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275"/>
              </a:spcAft>
            </a:pPr>
            <a:r>
              <a:rPr sz="89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Overview of solution maturity across the AI portfolio, showcasing the balance between production-ready systems, MVPs in development, and concept demonstrations.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980" y="3257550"/>
            <a:ext cx="3733706" cy="876299"/>
          </a:xfrm>
          <a:prstGeom prst="roundRect">
            <a:avLst>
              <a:gd name="adj" fmla="val 21739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377" y="3495675"/>
            <a:ext cx="400039" cy="400050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1028674" y="3609975"/>
            <a:ext cx="17144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6813" y="3390899"/>
            <a:ext cx="28764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Live &amp;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13" y="3657600"/>
            <a:ext cx="2876478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Healthcare AI • DiagnosticCentre • Conversational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0" y="4305300"/>
            <a:ext cx="3733706" cy="704849"/>
          </a:xfrm>
          <a:prstGeom prst="roundRect">
            <a:avLst>
              <a:gd name="adj" fmla="val 2702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377" y="4457700"/>
            <a:ext cx="400039" cy="400050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038199" y="4572000"/>
            <a:ext cx="152396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6813" y="4438649"/>
            <a:ext cx="28764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MVP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6813" y="4705350"/>
            <a:ext cx="287647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AR/VR Medical 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80" y="5181599"/>
            <a:ext cx="3733706" cy="704849"/>
          </a:xfrm>
          <a:prstGeom prst="roundRect">
            <a:avLst>
              <a:gd name="adj" fmla="val 2702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377" y="5334000"/>
            <a:ext cx="400039" cy="400050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1114397" y="5534025"/>
            <a:ext cx="7315200" cy="650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6813" y="5314950"/>
            <a:ext cx="28764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Demo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6813" y="5581649"/>
            <a:ext cx="287647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Pharmacist Chatbot • Banking OCR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10504" y="-1143000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29114" y="1285875"/>
            <a:ext cx="6219669" cy="428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38919" y="3038475"/>
            <a:ext cx="590535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919" y="3619499"/>
            <a:ext cx="59053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65"/>
              </a:lnSpc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Solutions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290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2390774"/>
            <a:ext cx="47623" cy="666750"/>
          </a:xfrm>
          <a:prstGeom prst="roundRect">
            <a:avLst>
              <a:gd name="adj" fmla="val 12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23" y="2390774"/>
            <a:ext cx="320984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CROSS-PROJECT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23" y="2695575"/>
            <a:ext cx="3209844" cy="752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Comparative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3781424"/>
            <a:ext cx="3486062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Identifying common patterns and synergies across the AI portfolio enables strategic reuse and accelerates time-to-value for new initiatives.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081" y="-1333500"/>
            <a:ext cx="3047923" cy="304799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2943151" y="6410324"/>
            <a:ext cx="152396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71745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9034" y="0"/>
            <a:ext cx="7562660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5272" y="304800"/>
            <a:ext cx="65149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17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Common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5272" y="733424"/>
            <a:ext cx="3181270" cy="1085850"/>
          </a:xfrm>
          <a:prstGeom prst="roundRect">
            <a:avLst>
              <a:gd name="adj" fmla="val 1754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4628387" y="1210309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5295767" y="933449"/>
            <a:ext cx="219069" cy="1904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95767" y="1247775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Multimodal Interfaces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5767" y="1504950"/>
            <a:ext cx="28383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Text, voice, images, scanned 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8939" y="733424"/>
            <a:ext cx="3181270" cy="1085850"/>
          </a:xfrm>
          <a:prstGeom prst="roundRect">
            <a:avLst>
              <a:gd name="adj" fmla="val 1754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7962054" y="1210309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8629434" y="933449"/>
            <a:ext cx="238119" cy="1904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29434" y="1247775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Human-in-the-Loop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9434" y="1504950"/>
            <a:ext cx="28383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Expert validation for safety &amp; 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5272" y="1962149"/>
            <a:ext cx="3181270" cy="1085850"/>
          </a:xfrm>
          <a:prstGeom prst="roundRect">
            <a:avLst>
              <a:gd name="adj" fmla="val 1754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628387" y="2439034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5295767" y="2162174"/>
            <a:ext cx="238119" cy="1904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95767" y="2476499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Multilingual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5767" y="2733674"/>
            <a:ext cx="28383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Bangla, English, Banglish, 40+ languages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8939" y="1962149"/>
            <a:ext cx="3181270" cy="1085850"/>
          </a:xfrm>
          <a:prstGeom prst="roundRect">
            <a:avLst>
              <a:gd name="adj" fmla="val 1754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7962054" y="2439034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8629434" y="2162174"/>
            <a:ext cx="219069" cy="1904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29434" y="2476499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Modular Microservices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9434" y="2733674"/>
            <a:ext cx="28383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RESTful APIs &amp; reusable components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5272" y="3200400"/>
            <a:ext cx="3181270" cy="1085850"/>
          </a:xfrm>
          <a:prstGeom prst="roundRect">
            <a:avLst>
              <a:gd name="adj" fmla="val 1754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4628387" y="3677285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5295767" y="3400425"/>
            <a:ext cx="171445" cy="1904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95767" y="3714750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Data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5767" y="3971925"/>
            <a:ext cx="28383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End-to-end MLOps pipelines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8939" y="3200400"/>
            <a:ext cx="3181270" cy="1085850"/>
          </a:xfrm>
          <a:prstGeom prst="roundRect">
            <a:avLst>
              <a:gd name="adj" fmla="val 17543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7962054" y="3677285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8629434" y="3400425"/>
            <a:ext cx="219069" cy="1904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29434" y="3714750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39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Cross-Vertical Reuse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9434" y="3971925"/>
            <a:ext cx="283837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Shared OCR &amp; biometrics modules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5272" y="4619625"/>
            <a:ext cx="65149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170"/>
              </a:spcAft>
            </a:pPr>
            <a:r>
              <a:rPr sz="107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Key Synergies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05272" y="5048250"/>
            <a:ext cx="6514937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5295767" y="5295899"/>
            <a:ext cx="190495" cy="152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600559" y="5276850"/>
            <a:ext cx="49624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OCR Engine Reuse:</a:t>
            </a: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Healthcare prescription engine repurposed for bank forms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5295767" y="5591175"/>
            <a:ext cx="190495" cy="152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00559" y="5581649"/>
            <a:ext cx="50766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Voice Biometrics:</a:t>
            </a: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Banking authentication securing patient portals &amp; e-pharmacy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5295767" y="5895974"/>
            <a:ext cx="190495" cy="152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600559" y="5876925"/>
            <a:ext cx="51147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Doctor + Pharmacist:</a:t>
            </a: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AI doctor calls pharmacist module for prescription analysis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5295767" y="6200775"/>
            <a:ext cx="190495" cy="1524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600559" y="6181724"/>
            <a:ext cx="42766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616161"/>
                </a:solidFill>
                <a:latin typeface="Inter"/>
                <a:rFonts ascii="Inter" hAnsi="Inter" eastAsia="Inter" cs="Inter"/>
              </a:rPr>
              <a:t>Unified Data Layer:</a:t>
            </a: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 Structured data feeds analytics across verticals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390525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390525"/>
            <a:ext cx="280980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PLATFORM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695325"/>
            <a:ext cx="280980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Current Status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761980" y="1400175"/>
            <a:ext cx="257168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446" y="1371600"/>
            <a:ext cx="28098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Complete Financial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2028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23196" y="2467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952476" y="2200275"/>
            <a:ext cx="171445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476" y="2495550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Identity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2733674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5092" y="2028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2866308" y="2467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3495587" y="2200275"/>
            <a:ext cx="17144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95587" y="2495550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Wallet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5587" y="2733674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3171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23196" y="3610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952476" y="3343275"/>
            <a:ext cx="171445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2476" y="3638550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Payments &amp;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3876674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05092" y="3171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2866308" y="3610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3495587" y="3343275"/>
            <a:ext cx="152396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95587" y="3638550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Ledger &amp; Accounting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5587" y="3876674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1980" y="4314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23196" y="4753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952476" y="4486275"/>
            <a:ext cx="219069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52476" y="4781549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KYC/KYB 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76" y="5019675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05092" y="4314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2866308" y="4753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3495587" y="4486275"/>
            <a:ext cx="171445" cy="171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95587" y="4781549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Compliance &amp; Sanctions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5587" y="5019675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1980" y="5457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323196" y="5896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952476" y="5629275"/>
            <a:ext cx="171445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2476" y="5924549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Support &amp; 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476" y="6162675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5092" y="5457825"/>
            <a:ext cx="2409764" cy="1009649"/>
          </a:xfrm>
          <a:prstGeom prst="roundRect">
            <a:avLst>
              <a:gd name="adj" fmla="val 15094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2866308" y="589660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3495587" y="5629275"/>
            <a:ext cx="219069" cy="171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495587" y="5924549"/>
            <a:ext cx="206687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Cloud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5587" y="6162675"/>
            <a:ext cx="20668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✓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90895" y="-1143000"/>
            <a:ext cx="3047923" cy="304799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72085" y="1133475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67353" y="1133475"/>
            <a:ext cx="45147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2A5F5"/>
                </a:solidFill>
                <a:latin typeface="Inter"/>
                <a:rFonts ascii="Inter" hAnsi="Inter" eastAsia="Inter" cs="Inter"/>
              </a:rPr>
              <a:t>FUTURE 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7353" y="1438274"/>
            <a:ext cx="451473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Blockchain Enablement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72085" y="2124075"/>
            <a:ext cx="4857628" cy="36004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781630" y="2419349"/>
            <a:ext cx="238119" cy="1904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43571" y="2352675"/>
            <a:ext cx="40956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195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Blockchain-Backed Wallet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43571" y="2590799"/>
            <a:ext cx="409564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Tokenized balance representation &amp; on-chain recording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6800679" y="3105149"/>
            <a:ext cx="190495" cy="19049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143571" y="3038475"/>
            <a:ext cx="40956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195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Stablecoin-Based Payments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43571" y="3286125"/>
            <a:ext cx="409564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Remittance, cross-border settlement, merchant payments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6819729" y="3800475"/>
            <a:ext cx="142871" cy="19049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143571" y="3733799"/>
            <a:ext cx="40956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195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Smart Contract Automation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43571" y="3981449"/>
            <a:ext cx="409564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Programmable treasury workflows &amp; payment automation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6800679" y="4495799"/>
            <a:ext cx="190495" cy="19049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143571" y="4429125"/>
            <a:ext cx="40956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195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Hybrid Fiat-Crypto Wallet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43571" y="4667249"/>
            <a:ext cx="409564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Seamless fiat-to-crypto and crypto-to-fiat transactions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6791155" y="5181599"/>
            <a:ext cx="219069" cy="19049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143571" y="5114925"/>
            <a:ext cx="409564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195"/>
              </a:spcAft>
            </a:pPr>
            <a:r>
              <a:rPr sz="897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Blockchain Identity Verification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43571" y="5362575"/>
            <a:ext cx="409564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Decentralized credentials &amp; external network integrations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6">
            <a:alphaModFix amt="10000000000"/>
          </a:blip>
          <a:stretch>
            <a:fillRect/>
          </a:stretch>
        </p:blipFill>
        <p:spPr>
          <a:xfrm>
            <a:off x="10505812" y="6410324"/>
            <a:ext cx="152396" cy="1524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734406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1980" y="1038224"/>
            <a:ext cx="57148" cy="666750"/>
          </a:xfrm>
          <a:prstGeom prst="roundRect">
            <a:avLst>
              <a:gd name="adj" fmla="val 1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7248" y="1038224"/>
            <a:ext cx="358131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4DB6AC"/>
                </a:solidFill>
                <a:latin typeface="Inter"/>
                <a:rFonts ascii="Inter" hAnsi="Inter" eastAsia="Inter" cs="Inter"/>
              </a:rPr>
              <a:t>STRATEGIC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48" y="1343025"/>
            <a:ext cx="358131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65"/>
              </a:lnSpc>
              <a:spcBef>
                <a:spcPts val="0"/>
              </a:spcBef>
              <a:spcAft>
                <a:spcPts val="0"/>
              </a:spcAft>
            </a:pPr>
            <a:r>
              <a:rPr sz="2272" b="1">
                <a:solidFill>
                  <a:srgbClr val="212121"/>
                </a:solidFill>
                <a:latin typeface="Poppins"/>
                <a:rFonts ascii="Poppins" hAnsi="Poppins" eastAsia="Poppins" cs="Poppins"/>
              </a:rPr>
              <a:t>Portfolio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076449"/>
            <a:ext cx="4343291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950"/>
              </a:spcAft>
            </a:pPr>
            <a:r>
              <a:rPr sz="89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Our AI-powered solutions demonstrate proven business impact across healthcare and financial sectors with quantifiable outcomes and scalable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980" y="3047999"/>
            <a:ext cx="4343291" cy="638175"/>
          </a:xfrm>
          <a:prstGeom prst="roundRect">
            <a:avLst>
              <a:gd name="adj" fmla="val 2985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508933" y="3301046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971525" y="3238500"/>
            <a:ext cx="19049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3181350"/>
            <a:ext cx="3638459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24242"/>
                </a:solidFill>
                <a:latin typeface="Inter"/>
                <a:rFonts ascii="Inter" hAnsi="Inter" eastAsia="Inter" cs="Inter"/>
              </a:rPr>
              <a:t>Modular architectures designed for cross-vertical expansion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80" y="3819524"/>
            <a:ext cx="4343291" cy="638175"/>
          </a:xfrm>
          <a:prstGeom prst="roundRect">
            <a:avLst>
              <a:gd name="adj" fmla="val 2985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508933" y="4072571"/>
            <a:ext cx="638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962000" y="4010024"/>
            <a:ext cx="219069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952874"/>
            <a:ext cx="3638459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24242"/>
                </a:solidFill>
                <a:latin typeface="Inter"/>
                <a:rFonts ascii="Inter" hAnsi="Inter" eastAsia="Inter" cs="Inter"/>
              </a:rPr>
              <a:t>Human oversight ensuring trust and regulatory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4600575"/>
            <a:ext cx="4343291" cy="542925"/>
          </a:xfrm>
          <a:prstGeom prst="roundRect">
            <a:avLst>
              <a:gd name="adj" fmla="val 3508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56558" y="4805997"/>
            <a:ext cx="542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981050" y="4791075"/>
            <a:ext cx="17144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14417" y="4733925"/>
            <a:ext cx="32003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24242"/>
                </a:solidFill>
                <a:latin typeface="Inter"/>
                <a:rFonts ascii="Inter" hAnsi="Inter" eastAsia="Inter" cs="Inter"/>
              </a:rPr>
              <a:t>Quantifiable business impact with measurable ROI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980" y="5276850"/>
            <a:ext cx="4343291" cy="542925"/>
          </a:xfrm>
          <a:prstGeom prst="roundRect">
            <a:avLst>
              <a:gd name="adj" fmla="val 3508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56558" y="5482272"/>
            <a:ext cx="542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981050" y="5467349"/>
            <a:ext cx="171445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14417" y="54101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24242"/>
                </a:solidFill>
                <a:latin typeface="Inter"/>
                <a:rFonts ascii="Inter" hAnsi="Inter" eastAsia="Inter" cs="Inter"/>
              </a:rPr>
              <a:t>Future-ready platform for AI-first transformation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1310" y="-1428750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3F2F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3800379" y="6410324"/>
            <a:ext cx="152396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28974" y="6400800"/>
            <a:ext cx="107629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757575"/>
                </a:solidFill>
                <a:latin typeface="Inter"/>
                <a:rFonts ascii="Inter" hAnsi="Inter" eastAsia="Inter" cs="Inter"/>
              </a:rPr>
              <a:t>AI INNOVATIONS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262" y="0"/>
            <a:ext cx="670543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6057748" y="1152524"/>
            <a:ext cx="257168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29214" y="1123949"/>
            <a:ext cx="151443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Strategic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57748" y="1752599"/>
            <a:ext cx="2609784" cy="138112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3302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6229194" y="2009774"/>
            <a:ext cx="190495" cy="1904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29194" y="2343150"/>
            <a:ext cx="226689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390"/>
              </a:spcAft>
            </a:pPr>
            <a:r>
              <a:rPr sz="89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Configurable Platform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9194" y="2609850"/>
            <a:ext cx="226689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MFS, digital banking, payment gateway, merchant payouts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19929" y="1752599"/>
            <a:ext cx="2609784" cy="138112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33020">
            <a:solidFill>
              <a:srgbClr val="4DB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8991375" y="2009774"/>
            <a:ext cx="190495" cy="1904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91375" y="2343150"/>
            <a:ext cx="226689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390"/>
              </a:spcAft>
            </a:pPr>
            <a:r>
              <a:rPr sz="897" b="1">
                <a:solidFill>
                  <a:srgbClr val="424242"/>
                </a:solidFill>
                <a:latin typeface="Inter"/>
                <a:rFonts ascii="Inter" hAnsi="Inter" eastAsia="Inter" cs="Inter"/>
              </a:rPr>
              <a:t>Blockchain-Enabled Future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1375" y="2609850"/>
            <a:ext cx="226689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Inter"/>
                <a:rFonts ascii="Inter" hAnsi="Inter" eastAsia="Inter" cs="Inter"/>
              </a:rPr>
              <a:t>Hybrid Web2-Web3 wallet with crypto settlement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057748" y="3419474"/>
            <a:ext cx="200019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72065" y="3390899"/>
            <a:ext cx="1038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24242"/>
                </a:solidFill>
                <a:latin typeface="Poppins"/>
                <a:rFonts ascii="Poppins" hAnsi="Poppins" eastAsia="Poppins" cs="Poppins"/>
              </a:rPr>
              <a:t>Next Steps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57748" y="40195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7748" y="40195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8739" y="4067174"/>
            <a:ext cx="25526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Client-specific customization &amp; branding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57748" y="43814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7748" y="438149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8739" y="4429125"/>
            <a:ext cx="25812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Continued R&amp;D on blockchain integration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57748" y="47434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57748" y="47434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8739" y="4791075"/>
            <a:ext cx="35051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Expanded multilingual support beyond Bangla &amp; English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57748" y="510540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57748" y="51054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8739" y="5153024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Wearables &amp; IoT device integration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57748" y="54673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57748" y="54673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8739" y="5514975"/>
            <a:ext cx="26574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16161"/>
                </a:solidFill>
                <a:latin typeface="Inter"/>
                <a:rFonts ascii="Inter" hAnsi="Inter" eastAsia="Inter" cs="Inter"/>
              </a:rPr>
              <a:t>Agentic AI for proactive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{"Label":"1","ContentProducer":"001191110108MA01KP2T5U00000","ProduceID":"90a4dca2a0d25eed550e427815cddc5f","ReservedCode1":"","ContentPropagator":"001191110108MA01KP2T5U00000","PropagateID":"90a4dca2a0d25eed550e427815cddc5f","ReservedCode2":""}</vt:lpwstr>
  </property>
</Properties>
</file>